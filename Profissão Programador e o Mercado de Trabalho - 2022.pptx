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73" r:id="rId4"/>
    <p:sldId id="257" r:id="rId5"/>
    <p:sldId id="270" r:id="rId6"/>
    <p:sldId id="280" r:id="rId7"/>
    <p:sldId id="258" r:id="rId8"/>
    <p:sldId id="275" r:id="rId9"/>
    <p:sldId id="259" r:id="rId10"/>
    <p:sldId id="279" r:id="rId11"/>
    <p:sldId id="260" r:id="rId12"/>
    <p:sldId id="268" r:id="rId13"/>
    <p:sldId id="269" r:id="rId14"/>
    <p:sldId id="263" r:id="rId15"/>
    <p:sldId id="264" r:id="rId16"/>
    <p:sldId id="262" r:id="rId17"/>
    <p:sldId id="261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tângulo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ADF46023-5C81-4420-AE2A-6EDD7232D419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9C94263A-E253-40E9-B546-7C4A37EED955}" type="slidenum">
              <a:rPr lang="pt-BR" smtClean="0"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92908" y="188640"/>
            <a:ext cx="8871580" cy="792088"/>
          </a:xfrm>
          <a:prstGeom prst="rect">
            <a:avLst/>
          </a:prstGeom>
        </p:spPr>
        <p:txBody>
          <a:bodyPr vert="horz" lIns="91440" tIns="0" rIns="45720" bIns="0" rtlCol="0" anchor="t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sz="5400" dirty="0">
                <a:solidFill>
                  <a:srgbClr val="FFF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Programador de Sistemas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728" y="2636912"/>
            <a:ext cx="2834964" cy="3096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72420" y="1412776"/>
            <a:ext cx="8871580" cy="792088"/>
          </a:xfrm>
          <a:prstGeom prst="rect">
            <a:avLst/>
          </a:prstGeom>
        </p:spPr>
        <p:txBody>
          <a:bodyPr vert="horz" lIns="91440" tIns="0" rIns="45720" bIns="0" rtlCol="0" anchor="t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sz="5400" dirty="0" smtClean="0">
                <a:solidFill>
                  <a:schemeClr val="tx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10</a:t>
            </a:r>
            <a:r>
              <a:rPr lang="pt-BR" sz="5400" dirty="0" smtClean="0">
                <a:solidFill>
                  <a:schemeClr val="tx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/09/2026</a:t>
            </a:r>
            <a:endParaRPr lang="pt-BR" sz="5400" dirty="0">
              <a:solidFill>
                <a:schemeClr val="tx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pt-BR" sz="5400" dirty="0">
              <a:solidFill>
                <a:schemeClr val="tx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575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6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775191"/>
            <a:ext cx="9144000" cy="4625609"/>
          </a:xfrm>
        </p:spPr>
        <p:txBody>
          <a:bodyPr/>
          <a:lstStyle/>
          <a:p>
            <a:r>
              <a:rPr lang="pt-BR" dirty="0"/>
              <a:t>Programador = Desenvolvedor = Developer = Dev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Mercado de Trabalho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564904"/>
            <a:ext cx="792088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0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6792"/>
            <a:ext cx="8784976" cy="46256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Os softwares são criados por </a:t>
            </a:r>
            <a:r>
              <a:rPr lang="pt-B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PROGRAMADORES</a:t>
            </a:r>
            <a:r>
              <a:rPr lang="pt-BR" dirty="0"/>
              <a:t>, que para isso usam uma </a:t>
            </a:r>
            <a:r>
              <a:rPr lang="pt-B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LINGUAGEM DE PROGRAMAÇÃO.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Mercado de Trabalho</a:t>
            </a:r>
          </a:p>
        </p:txBody>
      </p:sp>
    </p:spTree>
    <p:extLst>
      <p:ext uri="{BB962C8B-B14F-4D97-AF65-F5344CB8AC3E}">
        <p14:creationId xmlns:p14="http://schemas.microsoft.com/office/powerpoint/2010/main" val="357718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6792"/>
            <a:ext cx="8784976" cy="46256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Cargo</a:t>
            </a:r>
            <a:r>
              <a:rPr lang="pt-BR" dirty="0"/>
              <a:t> seguido da </a:t>
            </a:r>
            <a:r>
              <a:rPr lang="pt-B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Linguagem de Programação</a:t>
            </a:r>
          </a:p>
          <a:p>
            <a:pPr marL="118872" indent="0">
              <a:lnSpc>
                <a:spcPct val="150000"/>
              </a:lnSpc>
              <a:buNone/>
            </a:pPr>
            <a:r>
              <a:rPr lang="pt-BR" dirty="0"/>
              <a:t>Exemplos: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Programador C#.NET              Programador PHP                       Programador Java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>
              <a:lnSpc>
                <a:spcPct val="150000"/>
              </a:lnSpc>
            </a:pPr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Mercado de Trabalho</a:t>
            </a:r>
          </a:p>
        </p:txBody>
      </p:sp>
      <p:pic>
        <p:nvPicPr>
          <p:cNvPr id="1026" name="Picture 2" descr="E:\Aulas\Aula 01 e 02\miniatura-c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48" y="3861049"/>
            <a:ext cx="2634892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12999"/>
            <a:ext cx="2808312" cy="247154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3612999"/>
            <a:ext cx="2376264" cy="247154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612999"/>
            <a:ext cx="1080120" cy="160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268760"/>
            <a:ext cx="8229600" cy="4783683"/>
          </a:xfrm>
        </p:spPr>
        <p:txBody>
          <a:bodyPr>
            <a:normAutofit/>
          </a:bodyPr>
          <a:lstStyle/>
          <a:p>
            <a:pPr marL="118872" indent="0">
              <a:lnSpc>
                <a:spcPct val="150000"/>
              </a:lnSpc>
              <a:buNone/>
            </a:pPr>
            <a:r>
              <a:rPr lang="pt-BR" sz="3000" b="1" dirty="0">
                <a:solidFill>
                  <a:srgbClr val="FF0000"/>
                </a:solidFill>
              </a:rPr>
              <a:t>Categorias do Programador</a:t>
            </a:r>
          </a:p>
          <a:p>
            <a:pPr>
              <a:lnSpc>
                <a:spcPct val="150000"/>
              </a:lnSpc>
            </a:pPr>
            <a:r>
              <a:rPr lang="pt-BR" sz="3000" dirty="0"/>
              <a:t>Trainee</a:t>
            </a:r>
          </a:p>
          <a:p>
            <a:pPr>
              <a:lnSpc>
                <a:spcPct val="150000"/>
              </a:lnSpc>
            </a:pPr>
            <a:r>
              <a:rPr lang="pt-BR" sz="3000" dirty="0"/>
              <a:t>Júnior ( JR)</a:t>
            </a:r>
          </a:p>
          <a:p>
            <a:pPr>
              <a:lnSpc>
                <a:spcPct val="150000"/>
              </a:lnSpc>
            </a:pPr>
            <a:r>
              <a:rPr lang="pt-BR" sz="3000" dirty="0"/>
              <a:t>Pleno (PL)</a:t>
            </a:r>
          </a:p>
          <a:p>
            <a:pPr>
              <a:lnSpc>
                <a:spcPct val="150000"/>
              </a:lnSpc>
            </a:pPr>
            <a:r>
              <a:rPr lang="pt-BR" sz="3000" dirty="0"/>
              <a:t>Sênior (SR)</a:t>
            </a:r>
          </a:p>
          <a:p>
            <a:pPr>
              <a:lnSpc>
                <a:spcPct val="150000"/>
              </a:lnSpc>
            </a:pPr>
            <a:r>
              <a:rPr lang="pt-BR" sz="3000" dirty="0"/>
              <a:t>Master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Mercado de Trabalho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5517232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As categorias são de acordo com a </a:t>
            </a:r>
            <a:r>
              <a:rPr lang="pt-BR" sz="2800" b="1" u="sng" dirty="0">
                <a:solidFill>
                  <a:srgbClr val="FF0000"/>
                </a:solidFill>
              </a:rPr>
              <a:t>experiência</a:t>
            </a:r>
            <a:r>
              <a:rPr lang="pt-BR" sz="2800" dirty="0"/>
              <a:t>, </a:t>
            </a:r>
            <a:r>
              <a:rPr lang="pt-BR" sz="2800" b="1" u="sng" dirty="0">
                <a:solidFill>
                  <a:srgbClr val="FF0000"/>
                </a:solidFill>
              </a:rPr>
              <a:t>formação</a:t>
            </a:r>
            <a:r>
              <a:rPr lang="pt-BR" sz="2800" dirty="0"/>
              <a:t> e </a:t>
            </a:r>
            <a:r>
              <a:rPr lang="pt-BR" sz="2800" b="1" u="sng" dirty="0">
                <a:solidFill>
                  <a:srgbClr val="FF0000"/>
                </a:solidFill>
              </a:rPr>
              <a:t>responsabilidades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75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Categorias do Programador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13"/>
          <a:stretch/>
        </p:blipFill>
        <p:spPr>
          <a:xfrm>
            <a:off x="4808895" y="1772816"/>
            <a:ext cx="3888432" cy="23947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38"/>
          <a:stretch/>
        </p:blipFill>
        <p:spPr>
          <a:xfrm>
            <a:off x="2791115" y="5157192"/>
            <a:ext cx="5906212" cy="126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80"/>
          <a:stretch/>
        </p:blipFill>
        <p:spPr>
          <a:xfrm>
            <a:off x="611560" y="2523822"/>
            <a:ext cx="3581400" cy="12904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m 6" descr="php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523822"/>
            <a:ext cx="917104" cy="73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 descr="java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358" y="5157192"/>
            <a:ext cx="1359757" cy="126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8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775191"/>
            <a:ext cx="8856984" cy="462560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pt-BR" sz="3000" dirty="0"/>
              <a:t>Programadores / Desenvolvedores / </a:t>
            </a:r>
            <a:r>
              <a:rPr lang="pt-BR" sz="3000" dirty="0" err="1"/>
              <a:t>Developers</a:t>
            </a:r>
            <a:r>
              <a:rPr lang="pt-BR" sz="3000" dirty="0"/>
              <a:t> / Dev </a:t>
            </a:r>
            <a:r>
              <a:rPr lang="pt-BR" dirty="0"/>
              <a:t>são cargos de </a:t>
            </a:r>
            <a:r>
              <a:rPr lang="pt-BR" b="1" dirty="0">
                <a:solidFill>
                  <a:srgbClr val="FF0000"/>
                </a:solidFill>
              </a:rPr>
              <a:t>TI</a:t>
            </a:r>
            <a:r>
              <a:rPr lang="pt-BR" dirty="0"/>
              <a:t> – </a:t>
            </a:r>
            <a:r>
              <a:rPr lang="pt-B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da Informação</a:t>
            </a:r>
            <a:r>
              <a:rPr lang="pt-BR" dirty="0"/>
              <a:t>,           </a:t>
            </a:r>
          </a:p>
          <a:p>
            <a:pPr marL="118872" indent="0">
              <a:lnSpc>
                <a:spcPct val="200000"/>
              </a:lnSpc>
              <a:buNone/>
            </a:pPr>
            <a:r>
              <a:rPr lang="pt-BR" dirty="0"/>
              <a:t>                                                assim como as demais </a:t>
            </a:r>
          </a:p>
          <a:p>
            <a:pPr marL="118872" indent="0">
              <a:lnSpc>
                <a:spcPct val="200000"/>
              </a:lnSpc>
              <a:buNone/>
            </a:pPr>
            <a:r>
              <a:rPr lang="pt-BR" dirty="0"/>
              <a:t>                                                profissões de informática em </a:t>
            </a:r>
          </a:p>
          <a:p>
            <a:pPr marL="118872" indent="0">
              <a:lnSpc>
                <a:spcPct val="200000"/>
              </a:lnSpc>
              <a:buNone/>
            </a:pPr>
            <a:r>
              <a:rPr lang="pt-BR" dirty="0"/>
              <a:t>                                                geral.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Mercado de Trabalho</a:t>
            </a:r>
          </a:p>
        </p:txBody>
      </p:sp>
      <p:pic>
        <p:nvPicPr>
          <p:cNvPr id="5" name="Picture 2" descr="http://www.atuanti.com.br/wp-content/uploads/2015/01/logo_t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08" y="3717032"/>
            <a:ext cx="3260995" cy="2366333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75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Faculdade para Programador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700808"/>
            <a:ext cx="8928992" cy="462560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pt-BR" dirty="0"/>
              <a:t>Uma das opções para o programador que pretende se qualificar com um curso superior é fazer uma faculdade Análise e Desenvolvimento de Sistemas.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341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75191"/>
            <a:ext cx="8507288" cy="462560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10000"/>
              </a:lnSpc>
            </a:pPr>
            <a:r>
              <a:rPr lang="pt-BR" dirty="0"/>
              <a:t>Programador de Sistemas</a:t>
            </a:r>
          </a:p>
          <a:p>
            <a:pPr>
              <a:lnSpc>
                <a:spcPct val="210000"/>
              </a:lnSpc>
            </a:pPr>
            <a:r>
              <a:rPr lang="pt-BR" dirty="0"/>
              <a:t>Programador Web</a:t>
            </a:r>
          </a:p>
          <a:p>
            <a:pPr>
              <a:lnSpc>
                <a:spcPct val="210000"/>
              </a:lnSpc>
            </a:pPr>
            <a:r>
              <a:rPr lang="pt-BR" dirty="0"/>
              <a:t>Programador Mobile</a:t>
            </a:r>
          </a:p>
          <a:p>
            <a:pPr>
              <a:lnSpc>
                <a:spcPct val="210000"/>
              </a:lnSpc>
            </a:pPr>
            <a:r>
              <a:rPr lang="pt-BR" dirty="0"/>
              <a:t>Programador de Jogos</a:t>
            </a:r>
          </a:p>
          <a:p>
            <a:pPr>
              <a:lnSpc>
                <a:spcPct val="210000"/>
              </a:lnSpc>
            </a:pPr>
            <a:r>
              <a:rPr lang="pt-BR" dirty="0"/>
              <a:t>Programador DBA ( Administrador de Banco de Dados)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Programador</a:t>
            </a:r>
          </a:p>
        </p:txBody>
      </p:sp>
    </p:spTree>
    <p:extLst>
      <p:ext uri="{BB962C8B-B14F-4D97-AF65-F5344CB8AC3E}">
        <p14:creationId xmlns:p14="http://schemas.microsoft.com/office/powerpoint/2010/main" val="286997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81" y="116632"/>
            <a:ext cx="7427445" cy="705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894280" y="952136"/>
            <a:ext cx="74274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O programador é responsável pelo </a:t>
            </a:r>
            <a:r>
              <a:rPr lang="pt-BR" b="1" dirty="0"/>
              <a:t>desenvolvimento</a:t>
            </a:r>
            <a:r>
              <a:rPr lang="pt-BR" dirty="0"/>
              <a:t> do software e pode  trabalhar em equipe com outros programadores e profissionais de TI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80" y="2052617"/>
            <a:ext cx="7427447" cy="1784598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81" y="4108306"/>
            <a:ext cx="7427446" cy="1912982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52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24400"/>
            <a:ext cx="8305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827585" y="2699767"/>
            <a:ext cx="7560840" cy="1953369"/>
            <a:chOff x="827585" y="2708920"/>
            <a:chExt cx="7560840" cy="1953369"/>
          </a:xfrm>
        </p:grpSpPr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5" y="2708920"/>
              <a:ext cx="7560840" cy="1953369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" name="Retângulo 2"/>
            <p:cNvSpPr/>
            <p:nvPr/>
          </p:nvSpPr>
          <p:spPr>
            <a:xfrm>
              <a:off x="7005192" y="4221088"/>
              <a:ext cx="1152128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4624"/>
            <a:ext cx="79248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3635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O campo de atuação é imenso. Pode atuar em empresas, indústrias, bancos, comércio, hospitais e onde houver necessidade da informatização dos negócios.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Locais de Trabalho</a:t>
            </a:r>
          </a:p>
        </p:txBody>
      </p:sp>
    </p:spTree>
    <p:extLst>
      <p:ext uri="{BB962C8B-B14F-4D97-AF65-F5344CB8AC3E}">
        <p14:creationId xmlns:p14="http://schemas.microsoft.com/office/powerpoint/2010/main" val="4015545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Interessados em iniciar na profissão de programador.</a:t>
            </a:r>
          </a:p>
          <a:p>
            <a:pPr marL="118872" indent="0">
              <a:lnSpc>
                <a:spcPct val="150000"/>
              </a:lnSpc>
              <a:buNone/>
            </a:pPr>
            <a:endParaRPr lang="pt-BR" dirty="0"/>
          </a:p>
          <a:p>
            <a:pPr>
              <a:lnSpc>
                <a:spcPct val="150000"/>
              </a:lnSpc>
            </a:pPr>
            <a:r>
              <a:rPr lang="pt-BR" dirty="0"/>
              <a:t>Profissionais que desejam melhorar sua formação profissional.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Público Alvo</a:t>
            </a:r>
          </a:p>
        </p:txBody>
      </p:sp>
    </p:spTree>
    <p:extLst>
      <p:ext uri="{BB962C8B-B14F-4D97-AF65-F5344CB8AC3E}">
        <p14:creationId xmlns:p14="http://schemas.microsoft.com/office/powerpoint/2010/main" val="4015545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7504" y="155448"/>
            <a:ext cx="8579296" cy="1252728"/>
          </a:xfrm>
        </p:spPr>
        <p:txBody>
          <a:bodyPr>
            <a:normAutofit fontScale="90000"/>
          </a:bodyPr>
          <a:lstStyle/>
          <a:p>
            <a:r>
              <a:rPr lang="pt-BR" dirty="0"/>
              <a:t>Requisitos para ser um Programador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07504" y="1700808"/>
            <a:ext cx="8856984" cy="4625609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</a:pPr>
            <a:r>
              <a:rPr lang="pt-BR" sz="2800" dirty="0"/>
              <a:t>Atenção aos detalhes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Capacidade de Análise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Raciocínio Lógico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Desenvolver um Perfil Empreendedor ( </a:t>
            </a:r>
            <a:r>
              <a:rPr lang="pt-BR" sz="2800" b="1" dirty="0">
                <a:solidFill>
                  <a:srgbClr val="FF0000"/>
                </a:solidFill>
              </a:rPr>
              <a:t>Startup </a:t>
            </a:r>
            <a:r>
              <a:rPr lang="pt-BR" sz="28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Estar Atento às Tendências de Mercado e da Profissão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Manter-se Atualizado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Inglês</a:t>
            </a:r>
          </a:p>
        </p:txBody>
      </p:sp>
    </p:spTree>
    <p:extLst>
      <p:ext uri="{BB962C8B-B14F-4D97-AF65-F5344CB8AC3E}">
        <p14:creationId xmlns:p14="http://schemas.microsoft.com/office/powerpoint/2010/main" val="386067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9168" y="1775190"/>
            <a:ext cx="8517632" cy="462560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t-BR" sz="2900" dirty="0"/>
              <a:t>Autonomia </a:t>
            </a:r>
            <a:r>
              <a:rPr lang="pt-BR" sz="2400" dirty="0"/>
              <a:t>(</a:t>
            </a:r>
            <a:r>
              <a:rPr lang="pt-BR" sz="2400" b="1" dirty="0">
                <a:solidFill>
                  <a:srgbClr val="FF0000"/>
                </a:solidFill>
              </a:rPr>
              <a:t>Capacidade de Tomar Decisão</a:t>
            </a:r>
            <a:r>
              <a:rPr lang="pt-BR" sz="24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Autocrítica </a:t>
            </a:r>
            <a:r>
              <a:rPr lang="pt-BR" sz="2400" dirty="0"/>
              <a:t>(</a:t>
            </a:r>
            <a:r>
              <a:rPr lang="pt-BR" sz="2400" b="1" dirty="0">
                <a:solidFill>
                  <a:srgbClr val="FF0000"/>
                </a:solidFill>
              </a:rPr>
              <a:t>Reconhecer os erros e acertos de suas ações</a:t>
            </a:r>
            <a:r>
              <a:rPr lang="pt-BR" sz="24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Autodidata</a:t>
            </a:r>
            <a:r>
              <a:rPr lang="pt-BR" sz="2400" dirty="0"/>
              <a:t> ( </a:t>
            </a:r>
            <a:r>
              <a:rPr lang="pt-BR" sz="2400" b="1" dirty="0">
                <a:solidFill>
                  <a:srgbClr val="FF0000"/>
                </a:solidFill>
              </a:rPr>
              <a:t>Buscar Conhecimento por Esforço Próprio</a:t>
            </a:r>
            <a:r>
              <a:rPr lang="pt-BR" sz="24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Boa Memória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Concentração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Paciência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Curiosidade</a:t>
            </a:r>
          </a:p>
          <a:p>
            <a:pPr>
              <a:lnSpc>
                <a:spcPct val="150000"/>
              </a:lnSpc>
            </a:pPr>
            <a:r>
              <a:rPr lang="pt-BR" sz="2900" dirty="0"/>
              <a:t>Noções de Design e sua usabilidade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7504" y="155448"/>
            <a:ext cx="8579296" cy="1252728"/>
          </a:xfrm>
        </p:spPr>
        <p:txBody>
          <a:bodyPr>
            <a:normAutofit fontScale="90000"/>
          </a:bodyPr>
          <a:lstStyle/>
          <a:p>
            <a:r>
              <a:rPr lang="pt-BR" dirty="0"/>
              <a:t>Requisitos para ser um Programador</a:t>
            </a:r>
          </a:p>
        </p:txBody>
      </p:sp>
    </p:spTree>
    <p:extLst>
      <p:ext uri="{BB962C8B-B14F-4D97-AF65-F5344CB8AC3E}">
        <p14:creationId xmlns:p14="http://schemas.microsoft.com/office/powerpoint/2010/main" val="2869976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ódulo">
  <a:themeElements>
    <a:clrScheme name="Módulo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ódulo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ódu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te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te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t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2246</TotalTime>
  <Words>313</Words>
  <Application>Microsoft Office PowerPoint</Application>
  <PresentationFormat>Apresentação na tela (4:3)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Arial</vt:lpstr>
      <vt:lpstr>Arial Narrow</vt:lpstr>
      <vt:lpstr>Corbel</vt:lpstr>
      <vt:lpstr>Wingdings</vt:lpstr>
      <vt:lpstr>Wingdings 2</vt:lpstr>
      <vt:lpstr>Wingdings 3</vt:lpstr>
      <vt:lpstr>Módulo</vt:lpstr>
      <vt:lpstr>Horizonte</vt:lpstr>
      <vt:lpstr>Apresentação do PowerPoint</vt:lpstr>
      <vt:lpstr>Apresentação do PowerPoint</vt:lpstr>
      <vt:lpstr>Mercado de Trabalho</vt:lpstr>
      <vt:lpstr>Mercado de Trabalho</vt:lpstr>
      <vt:lpstr>Mercado de Trabalho</vt:lpstr>
      <vt:lpstr>Mercado de Trabalho</vt:lpstr>
      <vt:lpstr>Categorias do Programador</vt:lpstr>
      <vt:lpstr>Mercado de Trabalho</vt:lpstr>
      <vt:lpstr>Faculdade para Programador</vt:lpstr>
      <vt:lpstr>Tipos de Programador</vt:lpstr>
      <vt:lpstr>Apresentação do PowerPoint</vt:lpstr>
      <vt:lpstr>Apresentação do PowerPoint</vt:lpstr>
      <vt:lpstr>Locais de Trabalho</vt:lpstr>
      <vt:lpstr>Público Alvo</vt:lpstr>
      <vt:lpstr>Requisitos para ser um Programador</vt:lpstr>
      <vt:lpstr>Requisitos para ser um Programador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Fabiana</dc:creator>
  <cp:lastModifiedBy>DB</cp:lastModifiedBy>
  <cp:revision>83</cp:revision>
  <dcterms:created xsi:type="dcterms:W3CDTF">2016-02-11T02:50:16Z</dcterms:created>
  <dcterms:modified xsi:type="dcterms:W3CDTF">2026-09-10T22:47:35Z</dcterms:modified>
</cp:coreProperties>
</file>